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b="1" sz="1200">
                <a:solidFill>
                  <a:srgbClr val="0F5CA8"/>
                </a:solidFill>
              </a:rPr>
              <a:t>Project Name: </a:t>
            </a:r>
            <a:r>
              <a:rPr b="0" sz="1200">
                <a:solidFill>
                  <a:srgbClr val="0F172A"/>
                </a:solidFill>
              </a:rPr>
              <a:t>SAKSHYA AI (साक्ष्य AI) — सत्यमेव साक्ष्यम्
</a:t>
            </a:r>
          </a:p>
          <a:p>
            <a:r>
              <a:rPr b="1" sz="1200">
                <a:solidFill>
                  <a:srgbClr val="0F5CA8"/>
                </a:solidFill>
              </a:rPr>
              <a:t>Problem Statement ID: </a:t>
            </a:r>
            <a:r>
              <a:rPr b="0" sz="1200">
                <a:solidFill>
                  <a:srgbClr val="0F172A"/>
                </a:solidFill>
              </a:rPr>
              <a:t>SIH26231
</a:t>
            </a:r>
          </a:p>
          <a:p>
            <a:r>
              <a:rPr b="1" sz="1200">
                <a:solidFill>
                  <a:srgbClr val="0F5CA8"/>
                </a:solidFill>
              </a:rPr>
              <a:t>Problem Statement Title: </a:t>
            </a:r>
            <a:r>
              <a:rPr b="0" sz="1200">
                <a:solidFill>
                  <a:srgbClr val="0F172A"/>
                </a:solidFill>
              </a:rPr>
              <a:t>AI-Powered Spot Test Colorimeter &amp; Cryptographic Evidence Sealing for Field Narcotics Interdiction
</a:t>
            </a:r>
          </a:p>
          <a:p>
            <a:r>
              <a:rPr b="1" sz="1200">
                <a:solidFill>
                  <a:srgbClr val="0F5CA8"/>
                </a:solidFill>
              </a:rPr>
              <a:t>Theme: </a:t>
            </a:r>
            <a:r>
              <a:rPr b="0" sz="1200">
                <a:solidFill>
                  <a:srgbClr val="0F172A"/>
                </a:solidFill>
              </a:rPr>
              <a:t>Smart Automation / Law Enforcement &amp; National Security
</a:t>
            </a:r>
          </a:p>
          <a:p>
            <a:r>
              <a:rPr b="1" sz="1200">
                <a:solidFill>
                  <a:srgbClr val="0F5CA8"/>
                </a:solidFill>
              </a:rPr>
              <a:t>PS Category: </a:t>
            </a:r>
            <a:r>
              <a:rPr b="0" sz="1200">
                <a:solidFill>
                  <a:srgbClr val="0F172A"/>
                </a:solidFill>
              </a:rPr>
              <a:t>Software / Mobile-Edge Vision
</a:t>
            </a:r>
          </a:p>
          <a:p>
            <a:r>
              <a:rPr b="1" sz="1200">
                <a:solidFill>
                  <a:srgbClr val="0F5CA8"/>
                </a:solidFill>
              </a:rPr>
              <a:t>Target Ministry: </a:t>
            </a:r>
            <a:r>
              <a:rPr b="0" sz="1200">
                <a:solidFill>
                  <a:srgbClr val="0F172A"/>
                </a:solidFill>
              </a:rPr>
              <a:t>Narcotics Control Bureau (NCB), Ministry of Home Affairs
</a:t>
            </a:r>
          </a:p>
          <a:p>
            <a:r>
              <a:rPr b="1" sz="1200">
                <a:solidFill>
                  <a:srgbClr val="0F5CA8"/>
                </a:solidFill>
              </a:rPr>
              <a:t>Team Name: </a:t>
            </a:r>
            <a:r>
              <a:rPr b="0" sz="1200">
                <a:solidFill>
                  <a:srgbClr val="0F172A"/>
                </a:solidFill>
              </a:rPr>
              <a:t>Sudophiles
</a:t>
            </a:r>
          </a:p>
          <a:p>
            <a:r>
              <a:rPr b="1" sz="1200">
                <a:solidFill>
                  <a:srgbClr val="0F5CA8"/>
                </a:solidFill>
              </a:rPr>
              <a:t>Team ID: </a:t>
            </a:r>
            <a:r>
              <a:rPr b="0" sz="1200">
                <a:solidFill>
                  <a:srgbClr val="0F172A"/>
                </a:solidFill>
              </a:rPr>
              <a:t>[Your Registered Team ID]
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mha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2920"/>
            <a:ext cx="1589500" cy="868680"/>
          </a:xfrm>
          <a:prstGeom prst="rect">
            <a:avLst/>
          </a:prstGeom>
        </p:spPr>
      </p:pic>
      <p:pic>
        <p:nvPicPr>
          <p:cNvPr id="39" name="Picture 38" descr="ncb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502920"/>
            <a:ext cx="96259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b="1">
                <a:solidFill>
                  <a:srgbClr val="0F5CA8"/>
                </a:solidFill>
              </a:rPr>
              <a:t>PROPOSED SOLUTION: SAKSHYA AI (साक्ष्य AI)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Problem Addressed: </a:t>
            </a:r>
            <a:r>
              <a:rPr b="0" sz="1250">
                <a:solidFill>
                  <a:srgbClr val="1E293B"/>
                </a:solidFill>
              </a:rPr>
              <a:t>Subjective visual color interpretation under bad field lighting, rapid reagent oxidation/fading, and broken chain of custody challenged in court.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Step 1 (Offline Color Match): </a:t>
            </a:r>
            <a:r>
              <a:rPr b="0" sz="1250">
                <a:solidFill>
                  <a:srgbClr val="1E293B"/>
                </a:solidFill>
              </a:rPr>
              <a:t>Edge smartphone camera analyzes reagent fluid using scientific CIELAB ΔE2000 math in &lt;5ms without internet.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Step 2 (Online AI Verification): </a:t>
            </a:r>
            <a:r>
              <a:rPr b="0" sz="1250">
                <a:solidFill>
                  <a:srgbClr val="1E293B"/>
                </a:solidFill>
              </a:rPr>
              <a:t>Multimodal Gemini vision checks kit brand, batch lot/expiry, verifies pouch seal integrity, and drafts Section 52 NDPS court statement.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Cryptographic Sealing: </a:t>
            </a:r>
            <a:r>
              <a:rPr b="0" sz="1250">
                <a:solidFill>
                  <a:srgbClr val="1E293B"/>
                </a:solidFill>
              </a:rPr>
              <a:t>Instant SHA-256 digital fingerprint + GPS coordinates (±5m) embedded directly into evidence record.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1-Click Certified Panchnama: </a:t>
            </a:r>
            <a:r>
              <a:rPr b="0" sz="1250">
                <a:solidFill>
                  <a:srgbClr val="1E293B"/>
                </a:solidFill>
              </a:rPr>
              <a:t>Auto-generates statutory Form 'F' seizure memo &amp; certified assay PDF with embedded photograph.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Uniqueness: </a:t>
            </a:r>
            <a:r>
              <a:rPr b="0" sz="1250">
                <a:solidFill>
                  <a:srgbClr val="1E293B"/>
                </a:solidFill>
              </a:rPr>
              <a:t>Zero additional hardware—transforms everyday police phones into certified spectrophotometers with 4-tier chain of custody (IO → FSL → HQ → Court).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5CA8"/>
                </a:solidFill>
              </a:rPr>
              <a:t>TECHNICAL APPROACH &amp;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Client-Side Edge Math: </a:t>
            </a:r>
            <a:r>
              <a:rPr b="0" sz="1250">
                <a:solidFill>
                  <a:srgbClr val="1E293B"/>
                </a:solidFill>
              </a:rPr>
              <a:t>React 19 / Next.js 16 PWA running CIEDE2000 perceptual color difference math calibrated against UNODC ST/NAR/13 standards.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Quality Assurance Gate: </a:t>
            </a:r>
            <a:r>
              <a:rPr b="0" sz="1250">
                <a:solidFill>
                  <a:srgbClr val="1E293B"/>
                </a:solidFill>
              </a:rPr>
              <a:t>Modified Laplacian variance filter (sharpness ≥ 80) and specular glare filter (≤ 8%) automatically reject poor photos.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Cloud Forensic Vision: </a:t>
            </a:r>
            <a:r>
              <a:rPr b="0" sz="1250">
                <a:solidFill>
                  <a:srgbClr val="1E293B"/>
                </a:solidFill>
              </a:rPr>
              <a:t>Google Gemini Flash via secure API proxy for tamper detection, pouch OCR, and court statement generation.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Encrypted Realtime Ledger: </a:t>
            </a:r>
            <a:r>
              <a:rPr b="0" sz="1250">
                <a:solidFill>
                  <a:srgbClr val="1E293B"/>
                </a:solidFill>
              </a:rPr>
              <a:t>Supabase PostgreSQL with Row Level Security, photo storage bucket, and offline IndexedDB mesh sync.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Workflow Sequence: </a:t>
            </a:r>
            <a:r>
              <a:rPr b="0" sz="1250">
                <a:solidFill>
                  <a:srgbClr val="1E293B"/>
                </a:solidFill>
              </a:rPr>
              <a:t>Field Interdiction → Real-time Blur Gate → Step 1 Instant Color Match → Step 2 AI Check → SHA-256 Seal → Panchnama PDF → Live Zonal Map.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Multi-Lingual Accessibility: </a:t>
            </a:r>
            <a:r>
              <a:rPr b="0" sz="1250">
                <a:solidFill>
                  <a:srgbClr val="1E293B"/>
                </a:solidFill>
              </a:rPr>
              <a:t>Custom UI in 9 Indian regional languages (Hindi, Bengali, Telugu, Marathi, Tamil, Gujarati, Kannada, Punjabi, English).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5CA8"/>
                </a:solidFill>
              </a:rPr>
              <a:t>FEASIBILITY, CHALLENGES &amp;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Field Feasibility: </a:t>
            </a:r>
            <a:r>
              <a:rPr b="0" sz="1250">
                <a:solidFill>
                  <a:srgbClr val="1E293B"/>
                </a:solidFill>
              </a:rPr>
              <a:t>Zero hardware procurement cost; runs as an offline-first PWA on existing police smartphones (Android/iOS).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Operational Simplicity: </a:t>
            </a:r>
            <a:r>
              <a:rPr b="0" sz="1250">
                <a:solidFill>
                  <a:srgbClr val="1E293B"/>
                </a:solidFill>
              </a:rPr>
              <a:t>Clear 2-step verification layout designed for field constables and sub-inspectors without chemistry background.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Challenge: Sunlight &amp; Night Glare: </a:t>
            </a:r>
            <a:r>
              <a:rPr b="0" sz="1250">
                <a:solidFill>
                  <a:srgbClr val="1E293B"/>
                </a:solidFill>
              </a:rPr>
              <a:t>Mitigation: Automated ambient luminance normalization and dynamic specular reflection rejection gate.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Challenge: Shaky Hands / Motion Blur: </a:t>
            </a:r>
            <a:r>
              <a:rPr b="0" sz="1250">
                <a:solidFill>
                  <a:srgbClr val="1E293B"/>
                </a:solidFill>
              </a:rPr>
              <a:t>Mitigation: Real-time sharpness evaluation (Laplacian ≥ 80) blocks blurry captures and prompts 1-tap retake.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Challenge: Remote Border Connectivity: </a:t>
            </a:r>
            <a:r>
              <a:rPr b="0" sz="1250">
                <a:solidFill>
                  <a:srgbClr val="1E293B"/>
                </a:solidFill>
              </a:rPr>
              <a:t>Mitigation: 100% offline functionality via IndexedDB; Step 1 color analysis executes on-device with zero network.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Challenge: Legal Scrutiny in Court: </a:t>
            </a:r>
            <a:r>
              <a:rPr b="0" sz="1250">
                <a:solidFill>
                  <a:srgbClr val="1E293B"/>
                </a:solidFill>
              </a:rPr>
              <a:t>Mitigation: Strict compliance with Section 52 NDPS Act and electronic record admissibility under Section 65B BSA.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5CA8"/>
                </a:solidFill>
              </a:rPr>
              <a:t>IMPACT, BENEFITS &amp; NATIONAL UTILITY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Time Efficiency (95% Faster): </a:t>
            </a:r>
            <a:r>
              <a:rPr b="0" sz="1250">
                <a:solidFill>
                  <a:srgbClr val="1E293B"/>
                </a:solidFill>
              </a:rPr>
              <a:t>Reduces interdiction documentation and panchnama preparation time from 45 minutes to under 2 minutes.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Higher Conviction Rate: </a:t>
            </a:r>
            <a:r>
              <a:rPr b="0" sz="1250">
                <a:solidFill>
                  <a:srgbClr val="1E293B"/>
                </a:solidFill>
              </a:rPr>
              <a:t>Cryptographic SHA-256 seal and photo-embedded certified assay reports eliminate defense claims of evidence substitution.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FSL Laboratory Relief: </a:t>
            </a:r>
            <a:r>
              <a:rPr b="0" sz="1250">
                <a:solidFill>
                  <a:srgbClr val="1E293B"/>
                </a:solidFill>
              </a:rPr>
              <a:t>Presumptive double-verification prevents unnecessary lab backlog, routing only disputed samples via automated escalation queue.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Strategic Zonal Intelligence: </a:t>
            </a:r>
            <a:r>
              <a:rPr b="0" sz="1250">
                <a:solidFill>
                  <a:srgbClr val="1E293B"/>
                </a:solidFill>
              </a:rPr>
              <a:t>Real-time interactive seizure heatmap tracks drug trafficking corridors across state and international borders.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Fiscal Savings: </a:t>
            </a:r>
            <a:r>
              <a:rPr b="0" sz="1250">
                <a:solidFill>
                  <a:srgbClr val="1E293B"/>
                </a:solidFill>
              </a:rPr>
              <a:t>Saves an estimated ₹250+ Crores across central and state police forces by eliminating dedicated portable spectrometer hardware.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100% UNODC Reagent Coverage: </a:t>
            </a:r>
            <a:r>
              <a:rPr b="0" sz="1250">
                <a:solidFill>
                  <a:srgbClr val="1E293B"/>
                </a:solidFill>
              </a:rPr>
              <a:t>Supports all 9 standard test kits: Marquis, Scott, Duquenois-Levine, Ehrlich, Mecke, Mandelin, Froehde, Dille-Koppanyi, Nitric Acid.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5CA8"/>
                </a:solidFill>
              </a:rPr>
              <a:t>STATUTORY BASIS, RESEARCH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NDPS Act, 1985 (Section 43 &amp; 52): </a:t>
            </a:r>
            <a:r>
              <a:rPr b="0" sz="1250">
                <a:solidFill>
                  <a:srgbClr val="1E293B"/>
                </a:solidFill>
              </a:rPr>
              <a:t>Governs power of seizure in public places and statutory requirements for seizure memo preparation and custody transfer.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NDPS Act, 1985 (Section 52A): </a:t>
            </a:r>
            <a:r>
              <a:rPr b="0" sz="1250">
                <a:solidFill>
                  <a:srgbClr val="1E293B"/>
                </a:solidFill>
              </a:rPr>
              <a:t>Mandates inventory certification before Magistrate and electronic documentation for pre-trial disposal.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Bharatiya Sakshya Adhiniyam, 2023 (Sec. 65B): </a:t>
            </a:r>
            <a:r>
              <a:rPr b="0" sz="1250">
                <a:solidFill>
                  <a:srgbClr val="1E293B"/>
                </a:solidFill>
              </a:rPr>
              <a:t>Recognizes digitally hashed (SHA-256) electronic photographic records as primary court-admissible evidence.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UNODC ST/NAR/13 Rev.1: </a:t>
            </a:r>
            <a:r>
              <a:rPr b="0" sz="1250">
                <a:solidFill>
                  <a:srgbClr val="1E293B"/>
                </a:solidFill>
              </a:rPr>
              <a:t>'Rapid Testing Methods of Drugs of Abuse' — United Nations scientific standards for presumptive colorimetric spot tests.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CIE 142-2001 (CIEDE2000): </a:t>
            </a:r>
            <a:r>
              <a:rPr b="0" sz="1250">
                <a:solidFill>
                  <a:srgbClr val="1E293B"/>
                </a:solidFill>
              </a:rPr>
              <a:t>Commission Internationale de l'Éclairage industrial color-difference formula for objective mathematical color matching.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5CA8"/>
                </a:solidFill>
              </a:rPr>
              <a:t>FIPS PUB 180-4 (NIST SHA-256): </a:t>
            </a:r>
            <a:r>
              <a:rPr b="0" sz="1250">
                <a:solidFill>
                  <a:srgbClr val="1E293B"/>
                </a:solidFill>
              </a:rPr>
              <a:t>Federal Information Processing Standard for tamper-evident digital cryptographic signatures.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